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43891200" cy="32918400"/>
  <p:notesSz cx="32918400" cy="4389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" d="100"/>
          <a:sy n="10" d="100"/>
        </p:scale>
        <p:origin x="1836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843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0" cy="338328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11480"/>
            <a:ext cx="4206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Machine-Learning Prediction &amp; Game-Theoretic Optimization of Sweetcrete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4206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D6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low-carbon concrete that replaces Portland cement with precipitated calcium carbonate (PCC), a sugar-beet refining byproduct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4206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AFC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[Harsha </a:t>
            </a:r>
            <a:r>
              <a:rPr lang="en-US" sz="2200" dirty="0" err="1">
                <a:solidFill>
                  <a:srgbClr val="AFC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Rouniyar</a:t>
            </a:r>
            <a:r>
              <a:rPr lang="en-US" sz="2200" dirty="0">
                <a:solidFill>
                  <a:srgbClr val="AFC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Rohan Shrestha]   ·   Department of Civil and Environmental Engineering, Idaho State University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4023360"/>
            <a:ext cx="13624560" cy="76809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BBBBBB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4343400"/>
            <a:ext cx="1271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78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371600" y="5212080"/>
            <a:ext cx="12710160" cy="621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rgbClr val="2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Cement production is costly and carbon-intensive. Sweetcrete substitutes part of the cement with PCC — an abundant byproduct of regional sugar-beet refining — lowering cost and embodied carbon while diverting industrial waste from landfill.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14400" y="11978640"/>
            <a:ext cx="13624560" cy="603504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BBBBBB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71600" y="12298680"/>
            <a:ext cx="1271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78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371600" y="13167360"/>
            <a:ext cx="12710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rgbClr val="2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compressive strength from a mix recipe (target R² ≥ 0.93), explain the predictions, and recommend the most sustainable mix that still meets a required strength.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18288000"/>
            <a:ext cx="13624560" cy="941832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BBBBBB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71600" y="18608040"/>
            <a:ext cx="1271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78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Cleaning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371600" y="19476720"/>
            <a:ext cx="1271016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2100" dirty="0">
                <a:solidFill>
                  <a:srgbClr val="2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 laboratory specimens (after cleaning)</a:t>
            </a:r>
            <a:endParaRPr lang="en-US" sz="2100" dirty="0"/>
          </a:p>
          <a:p>
            <a:pPr marL="228600" indent="-2286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2100" dirty="0">
                <a:solidFill>
                  <a:srgbClr val="2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grid: PCC 0–50% × curing age 1–90 days</a:t>
            </a:r>
            <a:endParaRPr lang="en-US" sz="2100" dirty="0"/>
          </a:p>
          <a:p>
            <a:pPr marL="228600" indent="-2286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2100" dirty="0">
                <a:solidFill>
                  <a:srgbClr val="2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Recomputed one corrupted strength value; removed one inconsistent record</a:t>
            </a:r>
            <a:endParaRPr lang="en-US" sz="2100" dirty="0"/>
          </a:p>
          <a:p>
            <a:pPr marL="228600" indent="-2286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2100" dirty="0">
                <a:solidFill>
                  <a:srgbClr val="2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strength range: 2.2–52.6 MPa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5133320" y="4023360"/>
            <a:ext cx="13624560" cy="11887200"/>
          </a:xfrm>
          <a:prstGeom prst="roundRect">
            <a:avLst>
              <a:gd name="adj" fmla="val 923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BBBBBB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5590520" y="4343400"/>
            <a:ext cx="1271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78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Selection — Shapley Values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5590520" y="5212080"/>
            <a:ext cx="12710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rgbClr val="2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values (cooperative game theory) ranked candidate features. Five deployment-valid features were kept; cured-specimen measurements were excluded to prevent data leakage.</a:t>
            </a:r>
            <a:endParaRPr lang="en-US" sz="2100" dirty="0"/>
          </a:p>
        </p:txBody>
      </p:sp>
      <p:pic>
        <p:nvPicPr>
          <p:cNvPr id="18" name="Image 0" descr="results/figures/shap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9259" y="7406640"/>
            <a:ext cx="11672682" cy="75895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5590520" y="15041880"/>
            <a:ext cx="1271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1. SHAP feature importance (selected = green).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15133320" y="16184880"/>
            <a:ext cx="13624560" cy="1152144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BBBBBB">
                <a:alpha val="3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15590520" y="16504920"/>
            <a:ext cx="1271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78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Modeling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15590520" y="17373600"/>
            <a:ext cx="12710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rgbClr val="2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models compared under repeated 5-fold cross-validation; tree/boosting models won. A tuned Random Forest was selected as the final model.</a:t>
            </a:r>
            <a:endParaRPr lang="en-US" sz="2100" dirty="0"/>
          </a:p>
        </p:txBody>
      </p:sp>
      <p:pic>
        <p:nvPicPr>
          <p:cNvPr id="23" name="Image 1" descr="results/figures/model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09244" y="19293840"/>
            <a:ext cx="12272711" cy="69494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5590520" y="26289000"/>
            <a:ext cx="1271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2. Cross-validated R² across candidate models.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29352240" y="4023360"/>
            <a:ext cx="13624560" cy="11887200"/>
          </a:xfrm>
          <a:prstGeom prst="roundRect">
            <a:avLst>
              <a:gd name="adj" fmla="val 923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BBBBBB">
                <a:alpha val="35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29809440" y="4343400"/>
            <a:ext cx="1271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78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3000" dirty="0"/>
          </a:p>
        </p:txBody>
      </p:sp>
      <p:sp>
        <p:nvSpPr>
          <p:cNvPr id="27" name="Text 23"/>
          <p:cNvSpPr/>
          <p:nvPr/>
        </p:nvSpPr>
        <p:spPr>
          <a:xfrm>
            <a:off x="29809440" y="5212080"/>
            <a:ext cx="12710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1B78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 = 0.97</a:t>
            </a:r>
            <a:endParaRPr lang="en-US" sz="88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set</a:t>
            </a:r>
            <a:endParaRPr lang="en-US" sz="8800" dirty="0"/>
          </a:p>
        </p:txBody>
      </p:sp>
      <p:sp>
        <p:nvSpPr>
          <p:cNvPr id="28" name="Text 24"/>
          <p:cNvSpPr/>
          <p:nvPr/>
        </p:nvSpPr>
        <p:spPr>
          <a:xfrm>
            <a:off x="29809440" y="7406640"/>
            <a:ext cx="1271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2.45 MPa  ·  MAE 1.54 MPa  ·  cross-validated R² ≈ 0.89</a:t>
            </a:r>
            <a:endParaRPr lang="en-US" sz="1800" dirty="0"/>
          </a:p>
        </p:txBody>
      </p:sp>
      <p:pic>
        <p:nvPicPr>
          <p:cNvPr id="29" name="Image 2" descr="results/figures/pred_vs_actu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69388" y="8046720"/>
            <a:ext cx="6590264" cy="704088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29809440" y="15133320"/>
            <a:ext cx="1271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3. Predicted vs actual strength (test set).</a:t>
            </a:r>
            <a:endParaRPr lang="en-US" sz="1500" dirty="0"/>
          </a:p>
        </p:txBody>
      </p:sp>
      <p:sp>
        <p:nvSpPr>
          <p:cNvPr id="31" name="Shape 26"/>
          <p:cNvSpPr/>
          <p:nvPr/>
        </p:nvSpPr>
        <p:spPr>
          <a:xfrm>
            <a:off x="29352240" y="16184880"/>
            <a:ext cx="13624560" cy="1152144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BBBBBB">
                <a:alpha val="35000"/>
              </a:srgbClr>
            </a:outerShdw>
          </a:effectLst>
        </p:spPr>
      </p:sp>
      <p:sp>
        <p:nvSpPr>
          <p:cNvPr id="32" name="Text 27"/>
          <p:cNvSpPr/>
          <p:nvPr/>
        </p:nvSpPr>
        <p:spPr>
          <a:xfrm>
            <a:off x="29809440" y="16504920"/>
            <a:ext cx="1271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78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Game-Theoretic Optimization</a:t>
            </a:r>
            <a:endParaRPr lang="en-US" sz="3000" dirty="0"/>
          </a:p>
        </p:txBody>
      </p:sp>
      <p:sp>
        <p:nvSpPr>
          <p:cNvPr id="33" name="Text 28"/>
          <p:cNvSpPr/>
          <p:nvPr/>
        </p:nvSpPr>
        <p:spPr>
          <a:xfrm>
            <a:off x="29809440" y="17373600"/>
            <a:ext cx="12710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rgbClr val="2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vs performance as a two-player game. The Nash bargaining solution identifies ≈30% PCC — the knee before the strength cliff.</a:t>
            </a:r>
            <a:endParaRPr lang="en-US" sz="2100" dirty="0"/>
          </a:p>
        </p:txBody>
      </p:sp>
      <p:pic>
        <p:nvPicPr>
          <p:cNvPr id="34" name="Image 3" descr="results/figures/optimization_paret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50906" y="19293840"/>
            <a:ext cx="10827228" cy="694944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29809440" y="26289000"/>
            <a:ext cx="1271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4. Sustainability–performance frontier (★ = Nash).</a:t>
            </a:r>
            <a:endParaRPr lang="en-US" sz="1500" dirty="0"/>
          </a:p>
        </p:txBody>
      </p:sp>
      <p:sp>
        <p:nvSpPr>
          <p:cNvPr id="36" name="Shape 30"/>
          <p:cNvSpPr/>
          <p:nvPr/>
        </p:nvSpPr>
        <p:spPr>
          <a:xfrm>
            <a:off x="914400" y="28163520"/>
            <a:ext cx="420624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BBBBBB">
                <a:alpha val="35000"/>
              </a:srgbClr>
            </a:outerShdw>
          </a:effectLst>
        </p:spPr>
      </p:sp>
      <p:sp>
        <p:nvSpPr>
          <p:cNvPr id="37" name="Text 31"/>
          <p:cNvSpPr/>
          <p:nvPr/>
        </p:nvSpPr>
        <p:spPr>
          <a:xfrm>
            <a:off x="1371600" y="28483560"/>
            <a:ext cx="4114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78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 &amp; Future Work</a:t>
            </a:r>
            <a:endParaRPr lang="en-US" sz="3000" dirty="0"/>
          </a:p>
        </p:txBody>
      </p:sp>
      <p:sp>
        <p:nvSpPr>
          <p:cNvPr id="38" name="Text 32"/>
          <p:cNvSpPr/>
          <p:nvPr/>
        </p:nvSpPr>
        <p:spPr>
          <a:xfrm>
            <a:off x="1371600" y="29260800"/>
            <a:ext cx="41148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000" dirty="0">
                <a:solidFill>
                  <a:srgbClr val="2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compact, interpretable Random-Forest model predicts Sweetcrete strength above the 0.93 target, and a game-theoretic analysis pinpoints ≈30% PCC as the balanced optimum between sustainability and strength. The full pipeline is deployed as an interactive decision-support tool.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decouple water/cement ratio from PCC level, incorporate treated wastewater, add cost and durability objectives, quantify prediction uncertainty, and validate against full-scale field pours.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375</Words>
  <Application>Microsoft Office PowerPoint</Application>
  <PresentationFormat>Custom</PresentationFormat>
  <Paragraphs>30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Georgia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Administrator</cp:lastModifiedBy>
  <cp:revision>2</cp:revision>
  <dcterms:created xsi:type="dcterms:W3CDTF">2026-06-08T05:59:40Z</dcterms:created>
  <dcterms:modified xsi:type="dcterms:W3CDTF">2026-06-11T15:06:05Z</dcterms:modified>
</cp:coreProperties>
</file>